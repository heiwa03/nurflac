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59752" y="0"/>
            <a:ext cx="5029200" cy="6858000"/>
          </a:xfrm>
          <a:prstGeom prst="rect">
            <a:avLst/>
          </a:prstGeom>
          <a:solidFill>
            <a:srgbClr val="0F1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34072" y="0"/>
            <a:ext cx="54864" cy="6858000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50292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EAEAEA"/>
                </a:solidFill>
              </a:rPr>
              <a:t>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943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200" b="1" i="0">
                <a:solidFill>
                  <a:srgbClr val="EAEAEA"/>
                </a:solidFill>
              </a:rPr>
              <a:t>NurFlac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A0A8B8"/>
                </a:solidFill>
              </a:rPr>
              <a:t>Bot Telegram pentru validarea fișierelor audio lossless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429000"/>
            <a:ext cx="4114800" cy="27432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A8B8"/>
                </a:solidFill>
              </a:rPr>
              <a:t>Student: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319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AEAEA"/>
                </a:solidFill>
              </a:rPr>
              <a:t>Ciuc Vlada Marian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A8B8"/>
                </a:solidFill>
              </a:rPr>
              <a:t>Grupa  TI-XXX    ·    Disciplina: Tehnici și Mecanisme de Proiectare a Produselor Program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9832" y="914400"/>
            <a:ext cx="2011680" cy="34747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9832" y="914400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A0A8B8"/>
                </a:solidFill>
              </a:rPr>
              <a:t>Singleton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48672" y="914400"/>
            <a:ext cx="2011680" cy="34747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48672" y="914400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A0A8B8"/>
                </a:solidFill>
              </a:rPr>
              <a:t>Factory Method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99832" y="1371600"/>
            <a:ext cx="2011680" cy="34747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9832" y="1371600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A0A8B8"/>
                </a:solidFill>
              </a:rPr>
              <a:t>Builder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48672" y="1371600"/>
            <a:ext cx="2011680" cy="34747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48672" y="1371600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A0A8B8"/>
                </a:solidFill>
              </a:rPr>
              <a:t>Abstract Factory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99832" y="1828800"/>
            <a:ext cx="2011680" cy="34747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99832" y="1828800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A0A8B8"/>
                </a:solidFill>
              </a:rPr>
              <a:t>Decorator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48672" y="1828800"/>
            <a:ext cx="2011680" cy="34747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8672" y="1828800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A0A8B8"/>
                </a:solidFill>
              </a:rPr>
              <a:t>Facade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99832" y="2286000"/>
            <a:ext cx="2011680" cy="34747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99832" y="2286000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A0A8B8"/>
                </a:solidFill>
              </a:rPr>
              <a:t>Adapter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48672" y="2286000"/>
            <a:ext cx="2011680" cy="34747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48672" y="2286000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A0A8B8"/>
                </a:solidFill>
              </a:rPr>
              <a:t>Proxy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99832" y="2743200"/>
            <a:ext cx="2011680" cy="34747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99832" y="2743200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A0A8B8"/>
                </a:solidFill>
              </a:rPr>
              <a:t>State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48672" y="2743200"/>
            <a:ext cx="2011680" cy="34747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8672" y="2743200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A0A8B8"/>
                </a:solidFill>
              </a:rPr>
              <a:t>Chain of Resp.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99832" y="3200400"/>
            <a:ext cx="2011680" cy="34747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99832" y="3200400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A0A8B8"/>
                </a:solidFill>
              </a:rPr>
              <a:t>Command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48672" y="3200400"/>
            <a:ext cx="2011680" cy="34747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48672" y="3200400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A0A8B8"/>
                </a:solidFill>
              </a:rPr>
              <a:t>Strategy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99832" y="37490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94C4C"/>
                </a:solidFill>
              </a:rPr>
              <a:t>12 Design Patterns  ·  .NET 9.0  ·  C#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0292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82880"/>
            <a:ext cx="502920" cy="502920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828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AEAEA"/>
                </a:solidFill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502920"/>
            <a:ext cx="6583680" cy="6217920"/>
          </a:xfrm>
          <a:prstGeom prst="rect">
            <a:avLst/>
          </a:prstGeom>
          <a:solidFill>
            <a:srgbClr val="0D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ingleton_BotConfigurationMan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76072"/>
            <a:ext cx="6437376" cy="6071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95160" y="182880"/>
            <a:ext cx="5029200" cy="347472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"/>
            <a:ext cx="5029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Creațional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621792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</a:rPr>
              <a:t>Singleton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1417320"/>
            <a:ext cx="502920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5087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4B5F6"/>
                </a:solidFill>
              </a:rPr>
              <a:t>⚡  Integrare în sistem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892808"/>
            <a:ext cx="47548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AEAEA"/>
                </a:solidFill>
              </a:rPr>
              <a:t>BotConfigurationManager este punctul unic de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acces la configurație (token, AdminIds, DB paths).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/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Lazy&lt;T&gt; cu ExecutionAndPublication garantează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o singură instanță chiar şi sub concurență.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/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SpectralAnalysisEngine (motorul FFT) reutilizează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acelaşi mecanism — o instanță partajată de toți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analizatorii audio.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95160" y="3840480"/>
            <a:ext cx="5029200" cy="28529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3931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5D6A7"/>
                </a:solidFill>
              </a:rPr>
              <a:t>🎯  Problema rezolvată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315968"/>
            <a:ext cx="4754880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AEAEA"/>
                </a:solidFill>
              </a:rPr>
              <a:t>Configurația trebuie citită o singură dată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şi să fie accesibilă din orice componentă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fără a fi pasată explicit prin tot DI-ul.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0292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82880"/>
            <a:ext cx="502920" cy="502920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828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AEAEA"/>
                </a:solidFill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502920"/>
            <a:ext cx="6583680" cy="6217920"/>
          </a:xfrm>
          <a:prstGeom prst="rect">
            <a:avLst/>
          </a:prstGeom>
          <a:solidFill>
            <a:srgbClr val="0D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ctoryMethod_CommandFa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76072"/>
            <a:ext cx="6437376" cy="6071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95160" y="182880"/>
            <a:ext cx="5029200" cy="347472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"/>
            <a:ext cx="5029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Creațional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621792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</a:rPr>
              <a:t>Factory Method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1417320"/>
            <a:ext cx="502920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5087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4B5F6"/>
                </a:solidFill>
              </a:rPr>
              <a:t>⚡  Integrare în sistem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892808"/>
            <a:ext cx="47548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AEAEA"/>
                </a:solidFill>
              </a:rPr>
              <a:t>CommandFactory (Creator abstract) declară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CreateCommand(token) — suprascris de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StandardCommandFactory.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/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Metoda non-virtuală Create() aplică automat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decoratorul corect: AdminGuard sau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ModerationGuard, în funcție de token.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95160" y="3840480"/>
            <a:ext cx="5029200" cy="28529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3931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5D6A7"/>
                </a:solidFill>
              </a:rPr>
              <a:t>🎯  Problema rezolvată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315968"/>
            <a:ext cx="4754880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AEAEA"/>
                </a:solidFill>
              </a:rPr>
              <a:t>Dispatcher-ul nu trebuie să cunoască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clasele concrete ale comenzilor.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Adăugarea unei noi comenzi = o linie nouă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în StandardCommandFactory, fără a modifica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restul sistemului.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0292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82880"/>
            <a:ext cx="502920" cy="502920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828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AEAEA"/>
                </a:solidFill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502920"/>
            <a:ext cx="6583680" cy="6217920"/>
          </a:xfrm>
          <a:prstGeom prst="rect">
            <a:avLst/>
          </a:prstGeom>
          <a:solidFill>
            <a:srgbClr val="0D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uilder_AlbumReportBui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76072"/>
            <a:ext cx="6437376" cy="6071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95160" y="182880"/>
            <a:ext cx="5029200" cy="347472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"/>
            <a:ext cx="5029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Creațional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621792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</a:rPr>
              <a:t>Builder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1417320"/>
            <a:ext cx="502920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5087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4B5F6"/>
                </a:solidFill>
              </a:rPr>
              <a:t>⚡  Integrare în sistem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892808"/>
            <a:ext cx="47548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AEAEA"/>
                </a:solidFill>
              </a:rPr>
              <a:t>AlbumReportBuilder acumulează rezultatele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validărilor fişier cu fişier (AddSuccess /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AddFailure), thread-safe via C# 13 Lock.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/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Build() produce AlbumReport cu listele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acceptate/respinse.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/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ToMarkdown() formatează raportul final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pentru trimitere în Telegram.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95160" y="3840480"/>
            <a:ext cx="5029200" cy="28529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3931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5D6A7"/>
                </a:solidFill>
              </a:rPr>
              <a:t>🎯  Problema rezolvată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315968"/>
            <a:ext cx="4754880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AEAEA"/>
                </a:solidFill>
              </a:rPr>
              <a:t>Raportul unui album are N fişiere validate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asincron. Construcția sa treptată, thread-safe,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nu poate fi realizată printr-un simplu constructor.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0292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82880"/>
            <a:ext cx="502920" cy="502920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828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AEAEA"/>
                </a:solidFill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502920"/>
            <a:ext cx="6583680" cy="6217920"/>
          </a:xfrm>
          <a:prstGeom prst="rect">
            <a:avLst/>
          </a:prstGeom>
          <a:solidFill>
            <a:srgbClr val="0D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bstractFactory_AudioAnalyzerFa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76072"/>
            <a:ext cx="6437376" cy="6071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95160" y="182880"/>
            <a:ext cx="5029200" cy="347472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"/>
            <a:ext cx="5029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Creațional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621792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</a:rPr>
              <a:t>Abstract Factory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1417320"/>
            <a:ext cx="502920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5087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4B5F6"/>
                </a:solidFill>
              </a:rPr>
              <a:t>⚡  Integrare în sistem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892808"/>
            <a:ext cx="47548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AEAEA"/>
                </a:solidFill>
              </a:rPr>
              <a:t>IAudioAnalyzerFactory declară Create___Analyzer()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pentru fiecare format (FLAC, WAV, ALAC, AIFF).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/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LosslessAnalyzerFactory → analizoare pentru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validare autentică lossless.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/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LossyDetectorFactory → analizoare specializate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în detectarea recodificărilor lossy.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95160" y="3840480"/>
            <a:ext cx="5029200" cy="28529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3931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5D6A7"/>
                </a:solidFill>
              </a:rPr>
              <a:t>🎯  Problema rezolvată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315968"/>
            <a:ext cx="4754880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AEAEA"/>
                </a:solidFill>
              </a:rPr>
              <a:t>Comportamentul analizei variază cu familia de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fişiere. Fără Abstract Factory, codul de validare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ar fi plin de switch-uri pe format.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0292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82880"/>
            <a:ext cx="502920" cy="502920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828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AEAEA"/>
                </a:solidFill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502920"/>
            <a:ext cx="6583680" cy="6217920"/>
          </a:xfrm>
          <a:prstGeom prst="rect">
            <a:avLst/>
          </a:prstGeom>
          <a:solidFill>
            <a:srgbClr val="0D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corator_CommandGu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76072"/>
            <a:ext cx="6437376" cy="6071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95160" y="182880"/>
            <a:ext cx="5029200" cy="34747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"/>
            <a:ext cx="5029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Structural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621792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</a:rPr>
              <a:t>Decorator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1417320"/>
            <a:ext cx="502920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5087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4B5F6"/>
                </a:solidFill>
              </a:rPr>
              <a:t>⚡  Integrare în sistem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892808"/>
            <a:ext cx="47548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AEAEA"/>
                </a:solidFill>
              </a:rPr>
              <a:t>CommandFactory aplică exact un decorator: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/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• Comenzi user → ModerationGuardDecorator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  Blochează utilizatorii baniți/în timeout.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  Ridică automat timeout-urile expirate.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/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• Comenzi admin → AdminGuardDecorator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  Ignoră silențios non-adminii.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  Bypass-ează moderarea (admin bănuit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  poate rula /ban).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95160" y="3840480"/>
            <a:ext cx="5029200" cy="28529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3931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5D6A7"/>
                </a:solidFill>
              </a:rPr>
              <a:t>🎯  Problema rezolvată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315968"/>
            <a:ext cx="4754880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AEAEA"/>
                </a:solidFill>
              </a:rPr>
              <a:t>Gardurile de securitate trebuie injectate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transparent, fără a modifica comenzile concrete.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Cele două garduri sunt mutual exclusive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şi rezolvă politici complet diferite.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0292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82880"/>
            <a:ext cx="502920" cy="502920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828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AEAEA"/>
                </a:solidFill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502920"/>
            <a:ext cx="6583680" cy="6217920"/>
          </a:xfrm>
          <a:prstGeom prst="rect">
            <a:avLst/>
          </a:prstGeom>
          <a:solidFill>
            <a:srgbClr val="0D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cade_AudioPipelineFac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76072"/>
            <a:ext cx="6437376" cy="6071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95160" y="182880"/>
            <a:ext cx="5029200" cy="34747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"/>
            <a:ext cx="5029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Structural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621792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</a:rPr>
              <a:t>Facade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1417320"/>
            <a:ext cx="502920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5087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4B5F6"/>
                </a:solidFill>
              </a:rPr>
              <a:t>⚡  Integrare în sistem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892808"/>
            <a:ext cx="47548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AEAEA"/>
                </a:solidFill>
              </a:rPr>
              <a:t>AudioPipelineFacade cablează intern lanțul: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Extension → MIME → Spectral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/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Expune o singură metodă publică: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ValidateAsync(AudioFileContext, ct)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/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Apelantul (UpdateRouter, AlbumUploadState)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nu cunoaşte existența handler-elor sau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ordinea lor.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95160" y="3840480"/>
            <a:ext cx="5029200" cy="28529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3931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5D6A7"/>
                </a:solidFill>
              </a:rPr>
              <a:t>🎯  Problema rezolvată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315968"/>
            <a:ext cx="4754880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AEAEA"/>
                </a:solidFill>
              </a:rPr>
              <a:t>Validarea audio implică 3 handler-e cu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dependențe diferite. Fără Facade, fiecare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apelant ar trebui să construiască şi să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ordoneze manual lanțul.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0292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82880"/>
            <a:ext cx="502920" cy="502920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828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AEAEA"/>
                </a:solidFill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502920"/>
            <a:ext cx="6583680" cy="6217920"/>
          </a:xfrm>
          <a:prstGeom prst="rect">
            <a:avLst/>
          </a:prstGeom>
          <a:solidFill>
            <a:srgbClr val="0D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dapter_FfmpegAdap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76072"/>
            <a:ext cx="6437376" cy="6071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95160" y="182880"/>
            <a:ext cx="5029200" cy="34747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"/>
            <a:ext cx="5029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Structural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621792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</a:rPr>
              <a:t>Adapter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1417320"/>
            <a:ext cx="502920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5087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4B5F6"/>
                </a:solidFill>
              </a:rPr>
              <a:t>⚡  Integrare în sistem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892808"/>
            <a:ext cx="47548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AEAEA"/>
                </a:solidFill>
              </a:rPr>
              <a:t>FfmpegAdapter implementează IFfmpegTool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prin lansarea FFmpeg ca subprocess: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/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ffmpeg -ss 30 -t 30 -i &lt;file&gt;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       -f f32le -ac 1 -ar 44100 &lt;tmp&gt;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/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Returnează float[] (eşantioane PCM)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către analizatorul spectral.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95160" y="3840480"/>
            <a:ext cx="5029200" cy="28529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3931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5D6A7"/>
                </a:solidFill>
              </a:rPr>
              <a:t>🎯  Problema rezolvată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315968"/>
            <a:ext cx="4754880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AEAEA"/>
                </a:solidFill>
              </a:rPr>
              <a:t>Analizatoarele spectrale au nevoie de PCM brut.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FFmpeg este un binar extern cu CLI proprie.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Adapter-ul ascunde invocarea procesului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şi conversia bytes → float[].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0292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82880"/>
            <a:ext cx="502920" cy="502920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828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AEAEA"/>
                </a:solidFill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502920"/>
            <a:ext cx="6583680" cy="6217920"/>
          </a:xfrm>
          <a:prstGeom prst="rect">
            <a:avLst/>
          </a:prstGeom>
          <a:solidFill>
            <a:srgbClr val="0D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oxy_CachingUserReposi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76072"/>
            <a:ext cx="6437376" cy="6071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95160" y="182880"/>
            <a:ext cx="5029200" cy="34747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"/>
            <a:ext cx="5029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Structural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621792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</a:rPr>
              <a:t>Proxy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1417320"/>
            <a:ext cx="502920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5087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4B5F6"/>
                </a:solidFill>
              </a:rPr>
              <a:t>⚡  Integrare în sistem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892808"/>
            <a:ext cx="47548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AEAEA"/>
                </a:solidFill>
              </a:rPr>
              <a:t>CachingUserRepositoryProxy intercalează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IMemoryCache între UserService şi SQLite.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/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Hit (TTL 30s) → returnează imediat.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Miss → delegă la SqliteUserRepository,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        stochează rezultatul în cache.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/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UpdateAsync() invalidează intrarea —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statusul de ban/timeout rămâne proaspăt.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95160" y="3840480"/>
            <a:ext cx="5029200" cy="28529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3931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5D6A7"/>
                </a:solidFill>
              </a:rPr>
              <a:t>🎯  Problema rezolvată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315968"/>
            <a:ext cx="4754880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AEAEA"/>
                </a:solidFill>
              </a:rPr>
              <a:t>Fiecare mesaj Telegram declanşează o verificare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de moderare. Fără cache → câte un round-trip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SQLite per mesaj, chiar dacă statusul nu s-a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schimbat în ultimele 30 de secunde.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0292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82880"/>
            <a:ext cx="502920" cy="502920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828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AEAEA"/>
                </a:solidFill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502920"/>
            <a:ext cx="6583680" cy="6217920"/>
          </a:xfrm>
          <a:prstGeom prst="rect">
            <a:avLst/>
          </a:prstGeom>
          <a:solidFill>
            <a:srgbClr val="0D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te_AlbumS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76072"/>
            <a:ext cx="6437376" cy="6071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95160" y="182880"/>
            <a:ext cx="5029200" cy="347472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"/>
            <a:ext cx="5029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Comportamental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621792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</a:rPr>
              <a:t>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1417320"/>
            <a:ext cx="502920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5087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4B5F6"/>
                </a:solidFill>
              </a:rPr>
              <a:t>⚡  Integrare în sistem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892808"/>
            <a:ext cx="47548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AEAEA"/>
                </a:solidFill>
              </a:rPr>
              <a:t>AlbumSession delegă toate interacțiunile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la IAlbumState curentă: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/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IdleState → procesează fişiere individual,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  /album-upload → tranziție la AlbumUploadState.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/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AlbumUploadState → acumulează în PendingFiles,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  /album-done → validare batch + Builder report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              → tranziție înapoi la IdleState.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95160" y="3840480"/>
            <a:ext cx="5029200" cy="28529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3931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5D6A7"/>
                </a:solidFill>
              </a:rPr>
              <a:t>🎯  Problema rezolvată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315968"/>
            <a:ext cx="4754880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AEAEA"/>
                </a:solidFill>
              </a:rPr>
              <a:t>Comportamentul sesiunii diferă radical după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starea curentă. Fără State, AlbumSession ar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conține lanțuri de if/switch fragile şi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greu de extins.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0292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82880"/>
            <a:ext cx="502920" cy="502920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828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AEAEA"/>
                </a:solidFill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502920"/>
            <a:ext cx="6583680" cy="6217920"/>
          </a:xfrm>
          <a:prstGeom prst="rect">
            <a:avLst/>
          </a:prstGeom>
          <a:solidFill>
            <a:srgbClr val="0D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ainOfResponsibility_Validation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76072"/>
            <a:ext cx="6437376" cy="6071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95160" y="182880"/>
            <a:ext cx="5029200" cy="347472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"/>
            <a:ext cx="5029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Comportamental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621792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</a:rPr>
              <a:t>Chain of Responsibility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1417320"/>
            <a:ext cx="502920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5087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4B5F6"/>
                </a:solidFill>
              </a:rPr>
              <a:t>⚡  Integrare în sistem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892808"/>
            <a:ext cx="47548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AEAEA"/>
                </a:solidFill>
              </a:rPr>
              <a:t>Lanț: Extension → MIME → Spectral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/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ExtensionHandler: respinge extensii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  necunoscute sau lossy (mp3, aac, ogg...).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/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MimeHandler: validează tipul MIME dacă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  este prezent în metadatele Telegram.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/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SpectralHandler: FFT via FFmpeg + analiza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  energiei în banda 19–22 kHz.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95160" y="3840480"/>
            <a:ext cx="5029200" cy="28529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3931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5D6A7"/>
                </a:solidFill>
              </a:rPr>
              <a:t>🎯  Problema rezolvată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315968"/>
            <a:ext cx="4754880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AEAEA"/>
                </a:solidFill>
              </a:rPr>
              <a:t>Fiecare etapă de validare are responsabilitate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unică şi poate opri lanțul fără a cunoaşte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etapele următoare. Handler-ele noi se adaugă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fără a modifica codul existent.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0292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82880"/>
            <a:ext cx="502920" cy="502920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828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AEAEA"/>
                </a:solidFill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502920"/>
            <a:ext cx="6583680" cy="6217920"/>
          </a:xfrm>
          <a:prstGeom prst="rect">
            <a:avLst/>
          </a:prstGeom>
          <a:solidFill>
            <a:srgbClr val="0D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mmand_BotComm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76072"/>
            <a:ext cx="6437376" cy="6071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95160" y="182880"/>
            <a:ext cx="5029200" cy="347472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"/>
            <a:ext cx="5029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Comportamental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621792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</a:rPr>
              <a:t>Command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1417320"/>
            <a:ext cx="502920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5087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4B5F6"/>
                </a:solidFill>
              </a:rPr>
              <a:t>⚡  Integrare în sistem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892808"/>
            <a:ext cx="47548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AEAEA"/>
                </a:solidFill>
              </a:rPr>
              <a:t>Fiecare acțiune (/start, /ban, /album-done...)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este un obiect IBotCommand cu ExecuteAsync().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/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CommandDispatcher (Invoker) apelează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ExecuteAsync() fără a cunoaşte comanda.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/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Comenzi admin: /ban, /timeout, /unban,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/resetuser, /clearusers, /clearledger.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HelpCommand afişează secțiunea admin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doar administratorilor (IsAdmin()).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95160" y="3840480"/>
            <a:ext cx="5029200" cy="28529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3931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5D6A7"/>
                </a:solidFill>
              </a:rPr>
              <a:t>🎯  Problema rezolvată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315968"/>
            <a:ext cx="4754880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AEAEA"/>
                </a:solidFill>
              </a:rPr>
              <a:t>Dispatcher-ul trebuie să rute mesajele fără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a şti ce face fiecare comandă. Command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decuplează complet routing-ul de execuție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şi permite decorarea transparentă.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0292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82880"/>
            <a:ext cx="502920" cy="502920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828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AEAEA"/>
                </a:solidFill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502920"/>
            <a:ext cx="6583680" cy="6217920"/>
          </a:xfrm>
          <a:prstGeom prst="rect">
            <a:avLst/>
          </a:prstGeom>
          <a:solidFill>
            <a:srgbClr val="0D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rategy_Hash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76072"/>
            <a:ext cx="6437376" cy="6071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95160" y="182880"/>
            <a:ext cx="5029200" cy="347472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"/>
            <a:ext cx="5029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Comportamental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621792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AEAEA"/>
                </a:solidFill>
              </a:rPr>
              <a:t>Strategy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1417320"/>
            <a:ext cx="502920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5087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4B5F6"/>
                </a:solidFill>
              </a:rPr>
              <a:t>⚡  Integrare în sistem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892808"/>
            <a:ext cx="47548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AEAEA"/>
                </a:solidFill>
              </a:rPr>
              <a:t>LedgerService (Context) deține IHashStrategy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injectată la pornire din configurație: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  Ledger:HashStrategy = "MD5" | "SHA256"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/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IsDuplicateAsync() şi RecordAsync() apelează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hashStrategy.ComputeAsync() — indiferent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de algoritmul ales.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/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Schimbarea algoritmului = 0 linii de cod.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95160" y="3840480"/>
            <a:ext cx="5029200" cy="28529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3931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5D6A7"/>
                </a:solidFill>
              </a:rPr>
              <a:t>🎯  Problema rezolvată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315968"/>
            <a:ext cx="4754880" cy="225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AEAEA"/>
                </a:solidFill>
              </a:rPr>
              <a:t>Algoritmul de deduplicare trebuie să fie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configurabil fără recompilare.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Strategy permite înlocuirea MD5 cu SHA-256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(sau orice alt algoritm viitor) transparent</a:t>
            </a:r>
          </a:p>
          <a:p>
            <a:pPr algn="l"/>
            <a:r>
              <a:rPr sz="1200">
                <a:solidFill>
                  <a:srgbClr val="EAEAEA"/>
                </a:solidFill>
              </a:rPr>
              <a:t>față de LedgerService.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0292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AEAEA"/>
                </a:solidFill>
              </a:rPr>
              <a:t>Demonstrarea sistemului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1274552" cy="4846320"/>
          </a:xfrm>
          <a:prstGeom prst="rect">
            <a:avLst/>
          </a:prstGeom>
          <a:solidFill>
            <a:srgbClr val="0D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74552" cy="36576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5815584"/>
            <a:ext cx="11274552" cy="36576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45836" y="237744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 i="0">
                <a:solidFill>
                  <a:srgbClr val="E94C4C"/>
                </a:solidFill>
              </a:rPr>
              <a:t>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A0A8B8"/>
                </a:solidFill>
              </a:rPr>
              <a:t>Video demonstrație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606070"/>
                </a:solidFill>
              </a:rPr>
              <a:t>Inserați aici videoclipul demonstrativ al aplicației NurFlac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907024"/>
            <a:ext cx="11274552" cy="621792"/>
          </a:xfrm>
          <a:prstGeom prst="rect">
            <a:avLst/>
          </a:prstGeom>
          <a:solidFill>
            <a:srgbClr val="10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961888"/>
            <a:ext cx="11000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A8B8"/>
                </a:solidFill>
              </a:rPr>
              <a:t>Upload fişier FLAC autentic → acceptat ✓  ·  Upload fişier MP3 recodificat în FLAC → respins (spectral failure) 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236208"/>
            <a:ext cx="11000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A8B8"/>
                </a:solidFill>
              </a:rPr>
              <a:t>Sesiune /album-upload cu mai multe fişiere → raport final  ·  Comenzi admin: /ban, /timeout, /unban, /resetuser, /clearusers, /clearledger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50292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AEAEA"/>
                </a:solidFill>
              </a:rPr>
              <a:t>Concluzii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7772400" cy="36576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143000"/>
            <a:ext cx="10698480" cy="5669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143000"/>
            <a:ext cx="73152" cy="566928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17957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94C4C"/>
                </a:solidFill>
              </a:rPr>
              <a:t>12 şabloane GoF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179576"/>
            <a:ext cx="7406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AEAEA"/>
                </a:solidFill>
              </a:rPr>
              <a:t>fiecare rezolvă o problemă concretă, nu ornamentală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801368"/>
            <a:ext cx="10698480" cy="5669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801368"/>
            <a:ext cx="73152" cy="566928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3794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94C4C"/>
                </a:solidFill>
              </a:rPr>
              <a:t>Analiză spectrală FFT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1837944"/>
            <a:ext cx="7406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AEAEA"/>
                </a:solidFill>
              </a:rPr>
              <a:t>detectează recodificări lossy invizibile la ochi liberi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459736"/>
            <a:ext cx="10698480" cy="5669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459736"/>
            <a:ext cx="73152" cy="566928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4963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94C4C"/>
                </a:solidFill>
              </a:rPr>
              <a:t>Moderare bazată pe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496312"/>
            <a:ext cx="7406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AEAEA"/>
                </a:solidFill>
              </a:rPr>
              <a:t>escaladare automată: 3 strike → 24h, 4 → 72h, 5+ → ban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118104"/>
            <a:ext cx="10698480" cy="5669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118104"/>
            <a:ext cx="73152" cy="566928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1546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94C4C"/>
                </a:solidFill>
              </a:rPr>
              <a:t>Decorator mutual exclusiv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3154680"/>
            <a:ext cx="7406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AEAEA"/>
                </a:solidFill>
              </a:rPr>
              <a:t>comenzile admin bypass-ează moderarea — design deliberat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776472"/>
            <a:ext cx="10698480" cy="5669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3776472"/>
            <a:ext cx="73152" cy="566928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81304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94C4C"/>
                </a:solidFill>
              </a:rPr>
              <a:t>Proxy + Cache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3813048"/>
            <a:ext cx="7406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AEAEA"/>
                </a:solidFill>
              </a:rPr>
              <a:t>reduce round-trip-urile SQLite la 1 per 30s per utilizator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34840"/>
            <a:ext cx="10698480" cy="5669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434840"/>
            <a:ext cx="73152" cy="566928"/>
          </a:xfrm>
          <a:prstGeom prst="rect">
            <a:avLst/>
          </a:prstGeom>
          <a:solidFill>
            <a:srgbClr val="E9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47141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94C4C"/>
                </a:solidFill>
              </a:rPr>
              <a:t>Extensibilitate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4471416"/>
            <a:ext cx="7406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AEAEA"/>
                </a:solidFill>
              </a:rPr>
              <a:t>noi formate, strategii hash sau handler-e = 0 modificări existente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184648"/>
            <a:ext cx="10698480" cy="594360"/>
          </a:xfrm>
          <a:prstGeom prst="rect">
            <a:avLst/>
          </a:prstGeom>
          <a:solidFill>
            <a:srgbClr val="1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2578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1">
                <a:solidFill>
                  <a:srgbClr val="E94C4C"/>
                </a:solidFill>
              </a:rPr>
              <a:t>Șabloanele de proiectare nu sunt teorie — sunt soluții dovedite la probleme reale.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